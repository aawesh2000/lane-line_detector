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sldIdLst>
    <p:sldId id="256" r:id="rId2"/>
    <p:sldId id="261" r:id="rId3"/>
    <p:sldId id="263" r:id="rId4"/>
    <p:sldId id="265" r:id="rId5"/>
    <p:sldId id="267" r:id="rId6"/>
    <p:sldId id="268" r:id="rId7"/>
    <p:sldId id="272" r:id="rId8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-802" y="-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4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4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2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2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90600" y="1047750"/>
            <a:ext cx="6962614" cy="836126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370330" marR="5080" indent="-1358265" algn="ctr">
              <a:lnSpc>
                <a:spcPts val="6220"/>
              </a:lnSpc>
              <a:spcBef>
                <a:spcPts val="320"/>
              </a:spcBef>
            </a:pPr>
            <a:r>
              <a:rPr spc="-90" smtClean="0"/>
              <a:t> </a:t>
            </a:r>
            <a:r>
              <a:rPr spc="-5" smtClean="0"/>
              <a:t>Lane</a:t>
            </a:r>
            <a:r>
              <a:rPr lang="en-IN" spc="-5" dirty="0" smtClean="0"/>
              <a:t> </a:t>
            </a:r>
            <a:r>
              <a:rPr spc="-5" smtClean="0"/>
              <a:t>Line</a:t>
            </a:r>
            <a:r>
              <a:rPr spc="-25" smtClean="0"/>
              <a:t> </a:t>
            </a:r>
            <a:r>
              <a:rPr spc="-5" dirty="0"/>
              <a:t>Detection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7400" y="2038350"/>
            <a:ext cx="4928090" cy="1331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2800" dirty="0" smtClean="0">
                <a:latin typeface="Arial"/>
                <a:cs typeface="Arial"/>
              </a:rPr>
              <a:t>MD </a:t>
            </a:r>
            <a:r>
              <a:rPr lang="en-IN" sz="2800" dirty="0" err="1" smtClean="0">
                <a:latin typeface="Arial"/>
                <a:cs typeface="Arial"/>
              </a:rPr>
              <a:t>Aawesh</a:t>
            </a:r>
            <a:r>
              <a:rPr lang="en-IN" sz="2800" dirty="0" smtClean="0">
                <a:latin typeface="Arial"/>
                <a:cs typeface="Arial"/>
              </a:rPr>
              <a:t> </a:t>
            </a:r>
            <a:r>
              <a:rPr lang="en-IN" sz="2800" dirty="0" err="1" smtClean="0">
                <a:latin typeface="Arial"/>
                <a:cs typeface="Arial"/>
              </a:rPr>
              <a:t>Patanwala</a:t>
            </a:r>
            <a:endParaRPr lang="en-IN" sz="2800" dirty="0" smtClean="0">
              <a:latin typeface="Arial"/>
              <a:cs typeface="Arial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2800" dirty="0" smtClean="0">
                <a:latin typeface="Arial"/>
                <a:cs typeface="Arial"/>
              </a:rPr>
              <a:t>111803146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2800" dirty="0" smtClean="0">
                <a:latin typeface="Arial"/>
                <a:cs typeface="Arial"/>
              </a:rPr>
              <a:t>Comp Div-2   T2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76200" y="57150"/>
            <a:ext cx="305017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spc="-5" dirty="0" smtClean="0"/>
              <a:t>1)</a:t>
            </a:r>
            <a:r>
              <a:rPr sz="3600" spc="-100" smtClean="0"/>
              <a:t> </a:t>
            </a:r>
            <a:r>
              <a:rPr sz="3600" spc="-5" smtClean="0"/>
              <a:t>Grays</a:t>
            </a:r>
            <a:r>
              <a:rPr lang="en-IN" sz="3600" spc="-5" dirty="0" smtClean="0"/>
              <a:t>cal</a:t>
            </a:r>
            <a:r>
              <a:rPr sz="3600" spc="-5" smtClean="0"/>
              <a:t>e</a:t>
            </a:r>
            <a:endParaRPr sz="3600" spc="-5" dirty="0"/>
          </a:p>
        </p:txBody>
      </p:sp>
      <p:sp>
        <p:nvSpPr>
          <p:cNvPr id="3" name="object 3"/>
          <p:cNvSpPr/>
          <p:nvPr/>
        </p:nvSpPr>
        <p:spPr>
          <a:xfrm>
            <a:off x="229599" y="726573"/>
            <a:ext cx="8728710" cy="4170679"/>
          </a:xfrm>
          <a:custGeom>
            <a:avLst/>
            <a:gdLst/>
            <a:ahLst/>
            <a:cxnLst/>
            <a:rect l="l" t="t" r="r" b="b"/>
            <a:pathLst>
              <a:path w="8728710" h="4170679">
                <a:moveTo>
                  <a:pt x="0" y="0"/>
                </a:moveTo>
                <a:lnTo>
                  <a:pt x="8728482" y="0"/>
                </a:lnTo>
                <a:lnTo>
                  <a:pt x="8728482" y="4170591"/>
                </a:lnTo>
                <a:lnTo>
                  <a:pt x="0" y="4170591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7200" y="1047750"/>
            <a:ext cx="8410575" cy="962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convert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our image </a:t>
            </a:r>
            <a:r>
              <a:rPr sz="1800" spc="-5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00" spc="-5" smtClean="0">
                <a:solidFill>
                  <a:srgbClr val="595959"/>
                </a:solidFill>
                <a:latin typeface="Arial"/>
                <a:cs typeface="Arial"/>
              </a:rPr>
              <a:t>grayscale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Treat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yellow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or white lane lines the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same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tabLst>
                <a:tab pos="379095" algn="l"/>
                <a:tab pos="379730" algn="l"/>
              </a:tabLst>
            </a:pP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2624" y="2562100"/>
            <a:ext cx="2902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gray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cv2.grayscale(image)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95342" y="2250545"/>
            <a:ext cx="3872767" cy="25495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205418"/>
            <a:ext cx="6528877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5" dirty="0" smtClean="0"/>
              <a:t>2</a:t>
            </a:r>
            <a:r>
              <a:rPr spc="-5" smtClean="0"/>
              <a:t>) </a:t>
            </a:r>
            <a:r>
              <a:rPr spc="-5" dirty="0"/>
              <a:t>Canny </a:t>
            </a:r>
            <a:r>
              <a:rPr spc="-10" dirty="0"/>
              <a:t>Edge</a:t>
            </a:r>
            <a:r>
              <a:rPr spc="-85" dirty="0"/>
              <a:t> </a:t>
            </a:r>
            <a:r>
              <a:rPr spc="-5" dirty="0"/>
              <a:t>Detection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1352550"/>
            <a:ext cx="6830059" cy="645689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16865" indent="-304800">
              <a:lnSpc>
                <a:spcPct val="100000"/>
              </a:lnSpc>
              <a:spcBef>
                <a:spcPts val="414"/>
              </a:spcBef>
              <a:buChar char="-"/>
              <a:tabLst>
                <a:tab pos="316865" algn="l"/>
                <a:tab pos="3175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Used to detect boundaries of an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image</a:t>
            </a:r>
            <a:endParaRPr sz="1800">
              <a:latin typeface="Arial"/>
              <a:cs typeface="Arial"/>
            </a:endParaRPr>
          </a:p>
          <a:p>
            <a:pPr marL="316865" indent="-304800">
              <a:lnSpc>
                <a:spcPct val="100000"/>
              </a:lnSpc>
              <a:spcBef>
                <a:spcPts val="315"/>
              </a:spcBef>
              <a:buChar char="-"/>
              <a:tabLst>
                <a:tab pos="316865" algn="l"/>
                <a:tab pos="3175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Uses differential of </a:t>
            </a:r>
            <a:r>
              <a:rPr sz="1800" spc="-5">
                <a:solidFill>
                  <a:srgbClr val="595959"/>
                </a:solidFill>
                <a:latin typeface="Arial"/>
                <a:cs typeface="Arial"/>
              </a:rPr>
              <a:t>pixel</a:t>
            </a:r>
            <a:r>
              <a:rPr sz="1800" spc="-1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mtClean="0">
                <a:solidFill>
                  <a:srgbClr val="595959"/>
                </a:solidFill>
                <a:latin typeface="Arial"/>
                <a:cs typeface="Arial"/>
              </a:rPr>
              <a:t>values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10000" y="2724150"/>
            <a:ext cx="5019664" cy="17430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85423" y="3225018"/>
            <a:ext cx="1668780" cy="1070610"/>
          </a:xfrm>
          <a:custGeom>
            <a:avLst/>
            <a:gdLst/>
            <a:ahLst/>
            <a:cxnLst/>
            <a:rect l="l" t="t" r="r" b="b"/>
            <a:pathLst>
              <a:path w="1668780" h="1070610">
                <a:moveTo>
                  <a:pt x="0" y="27899"/>
                </a:moveTo>
                <a:lnTo>
                  <a:pt x="1668296" y="0"/>
                </a:lnTo>
              </a:path>
              <a:path w="1668780" h="1070610">
                <a:moveTo>
                  <a:pt x="0" y="1069997"/>
                </a:moveTo>
                <a:lnTo>
                  <a:pt x="1668296" y="1042097"/>
                </a:lnTo>
              </a:path>
              <a:path w="1668780" h="1070610">
                <a:moveTo>
                  <a:pt x="785423" y="27899"/>
                </a:moveTo>
                <a:lnTo>
                  <a:pt x="806423" y="1056597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71941" y="3040802"/>
            <a:ext cx="81470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latin typeface="Arial"/>
                <a:cs typeface="Arial"/>
              </a:rPr>
              <a:t>High  Threshold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96772" y="2992158"/>
            <a:ext cx="144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341C75"/>
                </a:solidFill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45912" y="3592384"/>
            <a:ext cx="1440815" cy="1089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741A46"/>
                </a:solidFill>
                <a:latin typeface="Arial"/>
                <a:cs typeface="Arial"/>
              </a:rPr>
              <a:t>B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550">
              <a:latin typeface="Arial"/>
              <a:cs typeface="Arial"/>
            </a:endParaRPr>
          </a:p>
          <a:p>
            <a:pPr marL="638175" marR="5080">
              <a:lnSpc>
                <a:spcPts val="1650"/>
              </a:lnSpc>
            </a:pPr>
            <a:r>
              <a:rPr sz="1400" spc="-5" dirty="0">
                <a:latin typeface="Arial"/>
                <a:cs typeface="Arial"/>
              </a:rPr>
              <a:t>Low  Threshold</a:t>
            </a:r>
            <a:endParaRPr sz="1400">
              <a:latin typeface="Arial"/>
              <a:cs typeface="Arial"/>
            </a:endParaRPr>
          </a:p>
          <a:p>
            <a:pPr marL="52705">
              <a:lnSpc>
                <a:spcPts val="1570"/>
              </a:lnSpc>
            </a:pPr>
            <a:r>
              <a:rPr sz="1400" dirty="0">
                <a:solidFill>
                  <a:srgbClr val="3B77D8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53476" y="2246696"/>
            <a:ext cx="3897194" cy="22981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-19050"/>
            <a:ext cx="437547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5" dirty="0" smtClean="0"/>
              <a:t>3</a:t>
            </a:r>
            <a:r>
              <a:rPr spc="-5" smtClean="0"/>
              <a:t>) </a:t>
            </a:r>
            <a:r>
              <a:rPr dirty="0"/>
              <a:t>Masked</a:t>
            </a:r>
            <a:r>
              <a:rPr spc="-105" dirty="0"/>
              <a:t> </a:t>
            </a:r>
            <a:r>
              <a:rPr spc="-5" dirty="0"/>
              <a:t>Image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93124" y="751331"/>
            <a:ext cx="4872355" cy="12870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246379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We want to narrow down our analysis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 section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the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image.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599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smtClean="0">
                <a:solidFill>
                  <a:srgbClr val="595959"/>
                </a:solidFill>
                <a:latin typeface="Arial"/>
                <a:cs typeface="Arial"/>
              </a:rPr>
              <a:t>Use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bitwise AND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return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image only where 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mask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pixels are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non-zero.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73790" y="489900"/>
            <a:ext cx="2832853" cy="16155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56516" y="3088227"/>
            <a:ext cx="746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CCCCCC"/>
                </a:solidFill>
                <a:latin typeface="Arial"/>
                <a:cs typeface="Arial"/>
              </a:rPr>
              <a:t>left_apex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52781" y="3062128"/>
            <a:ext cx="8559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CCCCCC"/>
                </a:solidFill>
                <a:latin typeface="Arial"/>
                <a:cs typeface="Arial"/>
              </a:rPr>
              <a:t>right_apex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59913" y="4634807"/>
            <a:ext cx="101409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right_bottom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86591" y="4634807"/>
            <a:ext cx="9048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left_bottom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38553" y="4388003"/>
            <a:ext cx="2578735" cy="245745"/>
            <a:chOff x="4638553" y="4388003"/>
            <a:chExt cx="2578735" cy="245745"/>
          </a:xfrm>
        </p:grpSpPr>
        <p:sp>
          <p:nvSpPr>
            <p:cNvPr id="11" name="object 11"/>
            <p:cNvSpPr/>
            <p:nvPr/>
          </p:nvSpPr>
          <p:spPr>
            <a:xfrm>
              <a:off x="4638553" y="4388003"/>
              <a:ext cx="179924" cy="2227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19540" y="4598540"/>
              <a:ext cx="2249805" cy="15240"/>
            </a:xfrm>
            <a:custGeom>
              <a:avLst/>
              <a:gdLst/>
              <a:ahLst/>
              <a:cxnLst/>
              <a:rect l="l" t="t" r="r" b="b"/>
              <a:pathLst>
                <a:path w="2249804" h="15239">
                  <a:moveTo>
                    <a:pt x="0" y="0"/>
                  </a:moveTo>
                  <a:lnTo>
                    <a:pt x="2249545" y="1462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68985" y="459744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199" y="0"/>
                  </a:lnTo>
                  <a:lnTo>
                    <a:pt x="43324" y="15999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168985" y="459744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43324" y="15999"/>
                  </a:lnTo>
                  <a:lnTo>
                    <a:pt x="199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985552" y="4634807"/>
            <a:ext cx="114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62982" y="3174732"/>
            <a:ext cx="114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384753" y="2421407"/>
            <a:ext cx="76200" cy="1958975"/>
            <a:chOff x="4384753" y="2421407"/>
            <a:chExt cx="76200" cy="1958975"/>
          </a:xfrm>
        </p:grpSpPr>
        <p:sp>
          <p:nvSpPr>
            <p:cNvPr id="18" name="object 18"/>
            <p:cNvSpPr/>
            <p:nvPr/>
          </p:nvSpPr>
          <p:spPr>
            <a:xfrm>
              <a:off x="4389516" y="2426170"/>
              <a:ext cx="50800" cy="1906270"/>
            </a:xfrm>
            <a:custGeom>
              <a:avLst/>
              <a:gdLst/>
              <a:ahLst/>
              <a:cxnLst/>
              <a:rect l="l" t="t" r="r" b="b"/>
              <a:pathLst>
                <a:path w="50800" h="1906270">
                  <a:moveTo>
                    <a:pt x="0" y="0"/>
                  </a:moveTo>
                  <a:lnTo>
                    <a:pt x="50674" y="190607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24466" y="433181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6874" y="43624"/>
                  </a:moveTo>
                  <a:lnTo>
                    <a:pt x="0" y="849"/>
                  </a:lnTo>
                  <a:lnTo>
                    <a:pt x="31449" y="0"/>
                  </a:lnTo>
                  <a:lnTo>
                    <a:pt x="16874" y="436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24466" y="433181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849"/>
                  </a:moveTo>
                  <a:lnTo>
                    <a:pt x="16874" y="43624"/>
                  </a:lnTo>
                  <a:lnTo>
                    <a:pt x="31449" y="0"/>
                  </a:lnTo>
                  <a:lnTo>
                    <a:pt x="0" y="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5937200" y="3272856"/>
            <a:ext cx="2600325" cy="1412875"/>
            <a:chOff x="5937200" y="3272856"/>
            <a:chExt cx="2600325" cy="1412875"/>
          </a:xfrm>
        </p:grpSpPr>
        <p:sp>
          <p:nvSpPr>
            <p:cNvPr id="22" name="object 22"/>
            <p:cNvSpPr/>
            <p:nvPr/>
          </p:nvSpPr>
          <p:spPr>
            <a:xfrm>
              <a:off x="8413770" y="4397753"/>
              <a:ext cx="123649" cy="28764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941962" y="3300018"/>
              <a:ext cx="359410" cy="176530"/>
            </a:xfrm>
            <a:custGeom>
              <a:avLst/>
              <a:gdLst/>
              <a:ahLst/>
              <a:cxnLst/>
              <a:rect l="l" t="t" r="r" b="b"/>
              <a:pathLst>
                <a:path w="359410" h="176529">
                  <a:moveTo>
                    <a:pt x="0" y="0"/>
                  </a:moveTo>
                  <a:lnTo>
                    <a:pt x="359399" y="17642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94437" y="3462318"/>
              <a:ext cx="45720" cy="33655"/>
            </a:xfrm>
            <a:custGeom>
              <a:avLst/>
              <a:gdLst/>
              <a:ahLst/>
              <a:cxnLst/>
              <a:rect l="l" t="t" r="r" b="b"/>
              <a:pathLst>
                <a:path w="45720" h="33654">
                  <a:moveTo>
                    <a:pt x="45724" y="33174"/>
                  </a:moveTo>
                  <a:lnTo>
                    <a:pt x="0" y="28249"/>
                  </a:lnTo>
                  <a:lnTo>
                    <a:pt x="13849" y="0"/>
                  </a:lnTo>
                  <a:lnTo>
                    <a:pt x="45724" y="331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94437" y="3462318"/>
              <a:ext cx="45720" cy="33655"/>
            </a:xfrm>
            <a:custGeom>
              <a:avLst/>
              <a:gdLst/>
              <a:ahLst/>
              <a:cxnLst/>
              <a:rect l="l" t="t" r="r" b="b"/>
              <a:pathLst>
                <a:path w="45720" h="33654">
                  <a:moveTo>
                    <a:pt x="0" y="28249"/>
                  </a:moveTo>
                  <a:lnTo>
                    <a:pt x="45724" y="33174"/>
                  </a:lnTo>
                  <a:lnTo>
                    <a:pt x="13849" y="0"/>
                  </a:lnTo>
                  <a:lnTo>
                    <a:pt x="0" y="282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949960" y="3277618"/>
              <a:ext cx="268605" cy="211454"/>
            </a:xfrm>
            <a:custGeom>
              <a:avLst/>
              <a:gdLst/>
              <a:ahLst/>
              <a:cxnLst/>
              <a:rect l="l" t="t" r="r" b="b"/>
              <a:pathLst>
                <a:path w="268604" h="211454">
                  <a:moveTo>
                    <a:pt x="268549" y="0"/>
                  </a:moveTo>
                  <a:lnTo>
                    <a:pt x="0" y="2109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915960" y="3476243"/>
              <a:ext cx="43815" cy="39370"/>
            </a:xfrm>
            <a:custGeom>
              <a:avLst/>
              <a:gdLst/>
              <a:ahLst/>
              <a:cxnLst/>
              <a:rect l="l" t="t" r="r" b="b"/>
              <a:pathLst>
                <a:path w="43815" h="39370">
                  <a:moveTo>
                    <a:pt x="0" y="39074"/>
                  </a:moveTo>
                  <a:lnTo>
                    <a:pt x="24274" y="0"/>
                  </a:lnTo>
                  <a:lnTo>
                    <a:pt x="43699" y="24749"/>
                  </a:lnTo>
                  <a:lnTo>
                    <a:pt x="0" y="390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915960" y="3476243"/>
              <a:ext cx="43815" cy="39370"/>
            </a:xfrm>
            <a:custGeom>
              <a:avLst/>
              <a:gdLst/>
              <a:ahLst/>
              <a:cxnLst/>
              <a:rect l="l" t="t" r="r" b="b"/>
              <a:pathLst>
                <a:path w="43815" h="39370">
                  <a:moveTo>
                    <a:pt x="24274" y="0"/>
                  </a:moveTo>
                  <a:lnTo>
                    <a:pt x="0" y="39074"/>
                  </a:lnTo>
                  <a:lnTo>
                    <a:pt x="43699" y="24749"/>
                  </a:lnTo>
                  <a:lnTo>
                    <a:pt x="242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183211" y="2287807"/>
            <a:ext cx="3590290" cy="2823845"/>
            <a:chOff x="183211" y="2287807"/>
            <a:chExt cx="3590290" cy="2823845"/>
          </a:xfrm>
        </p:grpSpPr>
        <p:sp>
          <p:nvSpPr>
            <p:cNvPr id="30" name="object 30"/>
            <p:cNvSpPr/>
            <p:nvPr/>
          </p:nvSpPr>
          <p:spPr>
            <a:xfrm>
              <a:off x="183211" y="2287807"/>
              <a:ext cx="3590188" cy="20515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11073" y="4105791"/>
              <a:ext cx="2463800" cy="1000760"/>
            </a:xfrm>
            <a:custGeom>
              <a:avLst/>
              <a:gdLst/>
              <a:ahLst/>
              <a:cxnLst/>
              <a:rect l="l" t="t" r="r" b="b"/>
              <a:pathLst>
                <a:path w="2463800" h="1000760">
                  <a:moveTo>
                    <a:pt x="2463595" y="1000497"/>
                  </a:moveTo>
                  <a:lnTo>
                    <a:pt x="0" y="1000497"/>
                  </a:lnTo>
                  <a:lnTo>
                    <a:pt x="851023" y="0"/>
                  </a:lnTo>
                  <a:lnTo>
                    <a:pt x="1612571" y="0"/>
                  </a:lnTo>
                  <a:lnTo>
                    <a:pt x="2463595" y="1000497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11073" y="4105791"/>
              <a:ext cx="2463800" cy="1000760"/>
            </a:xfrm>
            <a:custGeom>
              <a:avLst/>
              <a:gdLst/>
              <a:ahLst/>
              <a:cxnLst/>
              <a:rect l="l" t="t" r="r" b="b"/>
              <a:pathLst>
                <a:path w="2463800" h="1000760">
                  <a:moveTo>
                    <a:pt x="0" y="1000497"/>
                  </a:moveTo>
                  <a:lnTo>
                    <a:pt x="851023" y="0"/>
                  </a:lnTo>
                  <a:lnTo>
                    <a:pt x="1612571" y="0"/>
                  </a:lnTo>
                  <a:lnTo>
                    <a:pt x="2463595" y="1000497"/>
                  </a:lnTo>
                  <a:lnTo>
                    <a:pt x="0" y="100049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451451" y="4491883"/>
            <a:ext cx="86360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Apply</a:t>
            </a:r>
            <a:r>
              <a:rPr sz="1400" spc="-9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over  edges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438150"/>
            <a:ext cx="533027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5" dirty="0" smtClean="0"/>
              <a:t>4</a:t>
            </a:r>
            <a:r>
              <a:rPr spc="-5" smtClean="0"/>
              <a:t>) </a:t>
            </a:r>
            <a:r>
              <a:rPr spc="-5" dirty="0"/>
              <a:t>Hough</a:t>
            </a:r>
            <a:r>
              <a:rPr spc="-95" dirty="0"/>
              <a:t> </a:t>
            </a:r>
            <a:r>
              <a:rPr spc="-5" dirty="0"/>
              <a:t>Transform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1809750"/>
            <a:ext cx="8150225" cy="1919884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Goal: To identify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straight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lines</a:t>
            </a:r>
            <a:endParaRPr sz="1800">
              <a:latin typeface="Arial"/>
              <a:cs typeface="Arial"/>
            </a:endParaRPr>
          </a:p>
          <a:p>
            <a:pPr marL="379095" marR="475615" indent="-367030">
              <a:lnSpc>
                <a:spcPct val="114599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smtClean="0">
                <a:solidFill>
                  <a:srgbClr val="595959"/>
                </a:solidFill>
                <a:latin typeface="Arial"/>
                <a:cs typeface="Arial"/>
              </a:rPr>
              <a:t>Rho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: Distance of P(pixels).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Minimum value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1. Higher Rho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=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Increased  distance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resolution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31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Theta: angular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resolution.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Higher theta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=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higher angular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resolution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599"/>
              </a:lnSpc>
              <a:buChar char="●"/>
              <a:tabLst>
                <a:tab pos="379095" algn="l"/>
                <a:tab pos="379730" algn="l"/>
              </a:tabLst>
            </a:pPr>
            <a:r>
              <a:rPr lang="en-IN" sz="1800" dirty="0" smtClean="0">
                <a:latin typeface="Arial"/>
                <a:cs typeface="Arial"/>
              </a:rPr>
              <a:t>Threshold : only those lines are returned whole value is &gt; than threshold</a:t>
            </a:r>
            <a:r>
              <a:rPr lang="en-IN" dirty="0" smtClean="0">
                <a:latin typeface="Arial"/>
                <a:cs typeface="Arial"/>
              </a:rPr>
              <a:t>, </a:t>
            </a:r>
          </a:p>
          <a:p>
            <a:pPr marL="379095" marR="5080" indent="-367030">
              <a:lnSpc>
                <a:spcPct val="114599"/>
              </a:lnSpc>
              <a:tabLst>
                <a:tab pos="379095" algn="l"/>
                <a:tab pos="379730" algn="l"/>
              </a:tabLst>
            </a:pPr>
            <a:r>
              <a:rPr lang="en-IN" sz="1800" dirty="0" smtClean="0">
                <a:latin typeface="Arial"/>
                <a:cs typeface="Arial"/>
              </a:rPr>
              <a:t> </a:t>
            </a:r>
            <a:r>
              <a:rPr lang="en-IN" sz="1800" dirty="0" smtClean="0">
                <a:latin typeface="Arial"/>
                <a:cs typeface="Arial"/>
              </a:rPr>
              <a:t>otherwise ignored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381000" y="285750"/>
            <a:ext cx="601607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5" dirty="0" smtClean="0"/>
              <a:t>5</a:t>
            </a:r>
            <a:r>
              <a:rPr spc="-5" smtClean="0"/>
              <a:t>) </a:t>
            </a:r>
            <a:r>
              <a:rPr spc="-5" dirty="0"/>
              <a:t>Hough</a:t>
            </a:r>
            <a:r>
              <a:rPr spc="-95" dirty="0"/>
              <a:t> </a:t>
            </a:r>
            <a:r>
              <a:rPr spc="-5" dirty="0"/>
              <a:t>Transform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4" y="1176351"/>
            <a:ext cx="4191635" cy="2940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469900" indent="-367030">
              <a:lnSpc>
                <a:spcPct val="100000"/>
              </a:lnSpc>
              <a:spcBef>
                <a:spcPts val="414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Theta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pi/180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Rho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1.89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Threshold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75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min_line_len =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25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max_line_gap =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125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(values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dependent on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features)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Apply Hough Transform then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draw_lines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Onto original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image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24967" y="1093922"/>
            <a:ext cx="4953000" cy="4012565"/>
            <a:chOff x="3824967" y="1093922"/>
            <a:chExt cx="4953000" cy="4012565"/>
          </a:xfrm>
        </p:grpSpPr>
        <p:sp>
          <p:nvSpPr>
            <p:cNvPr id="5" name="object 5"/>
            <p:cNvSpPr/>
            <p:nvPr/>
          </p:nvSpPr>
          <p:spPr>
            <a:xfrm>
              <a:off x="3824967" y="1093922"/>
              <a:ext cx="4800590" cy="15239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67365" y="2605994"/>
              <a:ext cx="4210341" cy="250016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1814309"/>
            <a:ext cx="7010400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Thank you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4" y="1216356"/>
            <a:ext cx="835787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spc="-5" dirty="0" smtClean="0">
                <a:solidFill>
                  <a:srgbClr val="595959"/>
                </a:solidFill>
                <a:latin typeface="Arial"/>
                <a:cs typeface="Arial"/>
              </a:rPr>
              <a:t>\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189</Words>
  <Application>Microsoft Office PowerPoint</Application>
  <PresentationFormat>On-screen Show (16:9)</PresentationFormat>
  <Paragraphs>46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 Lane Line Detection</vt:lpstr>
      <vt:lpstr>1) Grayscale</vt:lpstr>
      <vt:lpstr>2) Canny Edge Detection</vt:lpstr>
      <vt:lpstr>3) Masked Image</vt:lpstr>
      <vt:lpstr>4) Hough Transform</vt:lpstr>
      <vt:lpstr>5) Hough Transform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Lane Line Detection</dc:title>
  <dc:creator>ADMIN</dc:creator>
  <cp:lastModifiedBy>ADMIN</cp:lastModifiedBy>
  <cp:revision>4</cp:revision>
  <dcterms:created xsi:type="dcterms:W3CDTF">2020-11-10T04:08:21Z</dcterms:created>
  <dcterms:modified xsi:type="dcterms:W3CDTF">2020-11-10T05:45:35Z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2020-11-10T00:00:00Z</vt:filetime>
  </property>
</Properties>
</file>